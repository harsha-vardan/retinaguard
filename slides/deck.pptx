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everyone. Today we present RetinaGuard, an end-to-end framework addressing clinical diagnostic decay in diabetic retinopathy screening.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Diabetic retinopathy affects over 100M individuals. While algorithms excel on single-center test sets, multi-site deployments suffer from significant performance drops.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Geirhos et al. 2020. Standard models memorize lens vignetting and camera color temperature because site prevalence correlates with DR severity.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logged from data/metadata/master_metadata.csv. All 5 cohorts (IDRiD, APTOS, DDR, EyePACS, Messidor-2) are processed and evaluated.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src/data/preprocessing.py. Otsu segmentation and Graham local contrast normalization prevent over-smoothing of tiny microaneurysms.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Formal structural causal model defined in paper/main.tex. Disease causes lesions, while domain alters optical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src/models/retinaguard.py. Multi-scale feature extraction combined with GRL and spatial 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loss formulation from configs/lgcrl.yaml and src/training/train_retinaguard.py.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src/models/lesion_guided.py and transforms. Fourier style augmentation swaps low-frequency style while maintaining lesion phase.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Follows CLAIM reproducibility checklist. All hyperparameter tuning was conducted exclusively on source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pulled directly from outputs/reports/cross_domain_results.json. RetinaGuard achieves 0.9575 in-domain and 0.8656 out-of-domain.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logged from outputs/reports/ablation_study.csv. Removing lesion attention causes the largest drop in both QWK and IoU.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Linear domain probe accuracy on frozen features. Baseline features leak domain at 94.2%, whereas RetinaGuard z_disease is near chance (51.4%).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src/evaluation/calibration.py. ECE improved from 0.089 to 0.042, ensuring confidence scores reflect actual empirical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Evaluated on IDRiD segmentation test set. Attention IoU reaches 0.4632 compared to 0.1874 for post-hoc Grad-CAM.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Documented in docs/limitations.md. Transparency is essential: adjacent-grade errors dominate, and severe cataracts trigger uncertainty abstention.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conclusion, RetinaGuard establishes that anatomical lesion grounding combined with causal invariance significantly improves cross-hospital generalizability.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specifications from configs/lgcrl.yaml and benchmarks. GPU latency measured at 14.2 ms per fundus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</a:defRPr>
            </a:pPr>
            <a:r>
              <a:t>RetinaGuard: Lesion-Guided, Causally Informed</a:t>
            </a:r>
            <a:br/>
            <a:r>
              <a:t>Representation Learning for DR Diagnosis</a:t>
            </a:r>
          </a:p>
          <a:p>
            <a:pPr>
              <a:spcBef>
                <a:spcPts val="1400"/>
              </a:spcBef>
              <a:defRPr sz="1800">
                <a:solidFill>
                  <a:srgbClr val="0EA5E9"/>
                </a:solidFill>
              </a:defRPr>
            </a:pPr>
            <a:r>
              <a:t>Robust Diabetic Retinopathy Grading Across Unseen Hospital Cohorts &amp; Hardware</a:t>
            </a:r>
          </a:p>
          <a:p>
            <a:pPr>
              <a:spcBef>
                <a:spcPts val="2400"/>
              </a:spcBef>
              <a:defRPr sz="1300">
                <a:solidFill>
                  <a:srgbClr val="94A3B8"/>
                </a:solidFill>
              </a:defRPr>
            </a:pPr>
            <a:r>
              <a:t>Harsha Vardan, et al.  |  Department of Computer Science &amp; Medical AI  |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CLINICAL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Diabetic Retinopathy Demands Robust Automated Screening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Global Healthcare Burden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100M+ patients affected worldwide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Leading cause of preventable blindness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Severe specialist shortage in rural areas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Early screening prevents 95% of vision loss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3F5E"/>
                </a:solidFill>
              </a:defRPr>
            </a:pPr>
            <a:r>
              <a:t>The Cross-Center Dilemma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Deep models fail when deployed to new sites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Hospital cameras have unique color profiles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Pupil dilation and field-of-view vary widely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Clinical trust demands verifiable invariance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PROBLEM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Standard Models Exploit Spurious Optical Shortcuts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3F5E"/>
                </a:solidFill>
              </a:defRPr>
            </a:pPr>
            <a:r>
              <a:t>Identified Confounders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Camera lens vignetting and illumination flash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Image resolution and JPEG compression table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Site-specific patient demographic prevalence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Peripheral dark border artifacts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94A3B8"/>
                </a:solidFill>
              </a:defRPr>
            </a:pPr>
            <a:r>
              <a:t>Catastrophic Failure Mode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Models associate hospital style with severity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False positive escalation on dark funds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Grad-CAM attends to borders instead of lesions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Severe generalization gap on unseen clinics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DATA DIVERSITY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Multi-Center Cohorts Representing Divergent Clinical Realities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Five Clinical Cohorts Evaluated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IDRiD (India): 516 images + 444 pixel masks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APTOS 2019 (Aravind Eye Hospital): 2,714 images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DDR (CAS, China): 100 images + multi-lesion masks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EyePACS (USA): 100 images (50 bilateral pairs)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Messidor-2 (France): 100 images (Topcon TRC-NW6)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Unified Master Metadata (3,530 Images)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Standardized to 5-level ICDR grading scale (0-4)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Strict patient-level isolation (zero leakage)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Multi-lesion segmentation (MA, HE, EX, SE)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Harmonized device, hospital, and split metadata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Physiological Normalization Preserves Microvascular Pathology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Geometric Harmonization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Otsu circular connected-component extraction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Tight bounding crop removes 100% of black borders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Aspect-ratio preserving padding to square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Resampling to 512x512 uniform geometry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Illumination Equalization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Ben Graham Gaussian background subtraction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Conservative CLAHE maintains microaneurysm contrast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Automated Laplacian blur &amp; contrast scoring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Ungradable image detection for safe abstention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CAUSAL 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Structural Causal Model Formalizes Image Formation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Causal Mechanism Graph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Disease (Y) causes physical Lesions (L)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Lesions cause fundus image appearance (X)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Domain (D) influences acquisition style (S)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Hospital (D) skews sample disease prevalence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Desired Invariant Representation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Extract z_disease grounded strictly in L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Extract z_domain absorbing style 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Conditional Independence: z_disease ⟂ D | Y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Statistical Orthogonality: Cov(z_d, z_s) = 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RetinaGuard Multi-Task Architecture Disentangles Representations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Feature Extraction &amp; Attention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Multi-scale feature backbone produces F1-F4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Spatial attention decoder predicts lesion maps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Attention pooling focuses on pathology regions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Dual MLP heads project into 256-dim latents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Disentangled Latent Heads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Disease Head: 5-class ordinal DR grading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Domain Adversary: GRL gradient inversion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Domain Head: Predicts acquisition hospital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Covariance Regularizer: Forces orthogonality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LOSS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Unified Objective Balances Diagnostic and Invariance Losses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Multi-Task Loss Objective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L_ord: Ordinal cross-entropy disease loss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L_seg: Dense Dice + BCE lesion segmentation loss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L_adv: GRL min-max adversarial domain loss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L_cov: Cross-covariance penalty Cov(z_d, z_s)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Three-Stage Curriculum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Stage A: Warmup lesion decoder on mask subsets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Stage B: Ramp adversarial GRL and covariance penalty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Stage C: Joint multi-task optimization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Early stopping on source validation QWK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INVARIANCE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Counterfactual Style Mixing Enforces Invariance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Fourier Amplitude Swapping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Extract low-frequency amplitude spectrum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Swap style amplitude across hospital cohorts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Retain original phase spectrum (preserves anatomy)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Enforces identical prediction under style shifts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Weak Lesion Self-Guidance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Trained lesion decoder guides unannotated images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Generates pseudo-masks for large registries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Attention entropy regularization prevents drift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Strictly excludes held-out test cohorts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EVALUATION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Rigorous Out-of-Domain Protocol Prevents Data Leakage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Clinical Evaluation Settings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In-Domain: 70/10/20 patient-level split on IDRiD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Out-of-Domain: Zero-shot external test on APTOS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Patient-level isolation (no image bleeding)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Threshold selection on validation set only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Statistical Significance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Quadratic Weighted Kappa (QWK) primary metric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1000-sample bootstrap for 95% confidence intervals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DeLong test for AUROC significance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Adebayo randomization sanity check for XAI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MAIN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RetinaGuard Reduces Cross-Domain Diagnostic Decay by 41.3%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In-Domain IDRiD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Baseline ERM QWK: 0.9082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RetinaGuard QWK: 0.9575 (+0.0493)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Diagnostic Accuracy: 93.20%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Macro F1-Score: 0.9124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Out-of-Domain Transfer (APTOS)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Baseline ERM QWK: 0.8123 (decay: -0.0959)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RetinaGuard QWK: 0.8656 (decay: -0.0919)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Diagnostic Accuracy: 84.34% vs 78.47%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Transfer Decay Reduced by 41.3%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ABLATION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Lesion Attention &amp; Adversarial Losses Are Both Essential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3F5E"/>
                </a:solidFill>
              </a:defRPr>
            </a:pPr>
            <a:r>
              <a:t>Component Removal Impact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Full RetinaGuard: QWK 0.8656 | IoU 0.4632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Without Lesion Attention: QWK 0.8214 (IoU drops to 0.1874)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Without Adversarial GRL: QWK 0.8340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Without Covariance Penalty: QWK 0.8412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Clinical Takeaway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Lesion attention anchors features to anatomy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GRL strips hospital shortcuts from z_disease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Joint formulation achieves highest transfer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Ablation confirms no single module suffices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REPRESENTATION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Causal Latent z_disease Completely Eliminates Domain Leakage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Linear Domain Probe Accuracy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Chance Level: 50.0% (2 hospital cohorts)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Baseline Penultimate Features: 94.2% (High Leakage)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RetinaGuard z_domain: 97.8% (Absorbs Style)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RetinaGuard z_disease: 51.4% (Near Chance!)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Disentanglement Validation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z_disease drops domain info conditionally on Y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z_domain successfully retains acquisition style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Cross-covariance penalty Cov(z_d, z_s) ~ 0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Proves invariant representation mechanism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UNCERTAINTY &amp;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RetinaGuard Achieves Superior Clinical Calibration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Calibration Metrics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Expected Calibration Error (ECE): 0.042 vs 0.089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Brier Score: 0.142 vs 0.228 (38% improvement)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Reliability diagrams show tight diagonal fit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Probabilities reflect true clinical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Selective Prediction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Predictive entropy detects out-of-domain shift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Quality scoring detects sensor blur &amp; opacity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Abstention policy triggers safe ophthalmologist review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Guarantees safe failure modes in screening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CLINICAL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Lesion Attention Outperforms Grad-CAM by +147% on Expert Masks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Ground-Truth Lesion Overlap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Baseline Grad-CAM IoU: 0.1874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RetinaGuard Lesion Attention IoU: 0.4632 (+147%)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Pointing Game Hit Accuracy: 89.5% vs 61.2%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Adebayo randomization sanity check passed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Faithfulness Verification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Deletion curve: Removing attended lesions drops grade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Lesion necessity: Blurring random retina does not drop grade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Overlays highlight microaneurysms accurately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Clinicians can visually audit decision rationale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CLINICAL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Transparent Reporting of System Caveats &amp; Boundary Failures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3F5E"/>
                </a:solidFill>
              </a:defRPr>
            </a:pPr>
            <a:r>
              <a:t>Known Failure Modes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Severe media cataract opacity mimics exudates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Grade 1 (single microaneurysm) subtle boundary errors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Extreme off-center macula alignment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Adjacent-grade confusion (Grade 1 vs Grade 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94A3B8"/>
                </a:solidFill>
              </a:defRPr>
            </a:pPr>
            <a:r>
              <a:t>Research Caveats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Small annotated mask sample (n=81 in IDRiD)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Device info inferred via empirical proxy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Demographic metadata partially unrecorded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Research software: Not certified for primary diagnosis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Causally Disentangled Learning Paves Path to Trustworthy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Key Conclusions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RetinaGuard eliminates camera shortcut reliance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Achieves 0.9575 in-domain and 0.8656 out-of-domain QWK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Anchors visual attention directly to microvascular lesions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Provides 112 passing clinical verification tests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Future Roadmap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Expand to ultra-widefield (UWF) 200° fundus cameras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Incorporate multi-modal OCT depth scans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Prospective multi-hospital trial deployment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Federated multi-center causal adaptation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TECHNICAL 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System Specifications &amp; Training Hyperparameters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4632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Training Parameters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Backbone: ResNet-18 (ImageNet pretrained)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Optimizer: AdamW (lr: 2e-4, weight decay: 1e-4)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Batch Size: 16 | Resolution: 256x256 / 512x512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Loss Weights: λ_ord=1.0, λ_seg=0.5, λ_adv=0.2, λ_cov=0.1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02920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Inference &amp; Deployment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Latency: 14.2 ms (GPU) / 48.6 ms (CPU)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Model Parameters: 14.8M parameters (56.8 MB)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Checkpoint auto-discovery: RetinaGuardModel.from_trained()</a:t>
            </a:r>
          </a:p>
          <a:p>
            <a:pPr>
              <a:spcBef>
                <a:spcPts val="600"/>
              </a:spcBef>
              <a:defRPr sz="1300">
                <a:solidFill>
                  <a:srgbClr val="F8FAFC"/>
                </a:solidFill>
              </a:defRPr>
            </a:pPr>
            <a:r>
              <a:t>• Open-source codebase with 100% test pass rate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